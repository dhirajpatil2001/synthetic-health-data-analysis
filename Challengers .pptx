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C3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80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1868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02827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DETECTING INEFFICIENT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PATHWAYS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882987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MEDICARE CLAIMS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31707" y="3511973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Data-Driven Approach to Improving Healthcare Efficiency</a:t>
            </a:r>
            <a:endParaRPr lang="en-US" sz="1600" dirty="0"/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45C070FE-CD78-2921-F622-C9DB8C831D33}"/>
              </a:ext>
            </a:extLst>
          </p:cNvPr>
          <p:cNvSpPr/>
          <p:nvPr/>
        </p:nvSpPr>
        <p:spPr>
          <a:xfrm>
            <a:off x="6096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2C39A"/>
                </a:solidFill>
              </a:rPr>
              <a:t>TEAM : CHALLENGERS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" cy="3474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Challenge: </a:t>
            </a:r>
            <a:r>
              <a:rPr lang="en-US" sz="1800" dirty="0">
                <a:solidFill>
                  <a:srgbClr val="2D3748"/>
                </a:solidFill>
              </a:rPr>
              <a:t>Many Medicare patients experience long, fragmented diagnostic journeys before receiving appropriate treatment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69494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228600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SzPct val="100000"/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provider visits before diagnosis</a:t>
            </a:r>
          </a:p>
          <a:p>
            <a:pPr marL="285750" indent="-285750">
              <a:buSzPct val="100000"/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time gaps between symptoms and treatment</a:t>
            </a:r>
          </a:p>
          <a:p>
            <a:pPr marL="285750" indent="-285750">
              <a:buSzPct val="100000"/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Redundant tests and procedures
Fragmented care across different facilities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2860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2286000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IMPACT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👤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in time to treatment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1188720"/>
            <a:ext cx="22860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188720"/>
            <a:ext cx="228600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280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IMPACT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💰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474720" y="2560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$3,300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657600" y="32004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claim costs with fragmentation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188720"/>
            <a:ext cx="22860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188720"/>
            <a:ext cx="228600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280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IMPACT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⚕️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6217920" y="2560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400800" y="32004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 for just 3 patients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599" y="980439"/>
            <a:ext cx="2888827" cy="6333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Multi-Dataset Integration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461347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Merged 5 key Medicare datasets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0120" y="1600200"/>
            <a:ext cx="0" cy="137160"/>
          </a:xfrm>
          <a:prstGeom prst="line">
            <a:avLst/>
          </a:prstGeom>
          <a:noFill/>
          <a:ln w="38100">
            <a:solidFill>
              <a:srgbClr val="00A896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731520" y="17830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Pathway Definition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011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diagnostic journey metrics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" y="2286000"/>
            <a:ext cx="0" cy="137160"/>
          </a:xfrm>
          <a:prstGeom prst="line">
            <a:avLst/>
          </a:prstGeom>
          <a:noFill/>
          <a:ln w="38100">
            <a:solidFill>
              <a:srgbClr val="00A896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731520" y="24688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7160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2697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15+ derived variables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60120" y="2971800"/>
            <a:ext cx="0" cy="137160"/>
          </a:xfrm>
          <a:prstGeom prst="line">
            <a:avLst/>
          </a:prstGeom>
          <a:noFill/>
          <a:ln w="38100">
            <a:solidFill>
              <a:srgbClr val="00A896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731520" y="31546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71600" y="3154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Analysis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3383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inefficiency indicators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60120" y="3657600"/>
            <a:ext cx="0" cy="137160"/>
          </a:xfrm>
          <a:prstGeom prst="line">
            <a:avLst/>
          </a:prstGeom>
          <a:noFill/>
          <a:ln w="38100">
            <a:solidFill>
              <a:srgbClr val="00A896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31520" y="38404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371600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Modeling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71600" y="4069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models for early detection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029200" y="1371600"/>
            <a:ext cx="3657600" cy="2743200"/>
          </a:xfrm>
          <a:prstGeom prst="rect">
            <a:avLst/>
          </a:prstGeom>
          <a:solidFill>
            <a:srgbClr val="028090">
              <a:alpha val="9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21031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COMPREHENSIVE</a:t>
            </a:r>
            <a:endParaRPr lang="en-US" sz="2800" b="1" dirty="0"/>
          </a:p>
          <a:p>
            <a:pPr marL="0" indent="0" algn="ctr">
              <a:buNone/>
            </a:pPr>
            <a:r>
              <a:rPr lang="en-US" sz="28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INSIGHTS</a:t>
            </a:r>
            <a:endParaRPr lang="en-US" sz="28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LANDSCAPE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 DE-SynPUF: 2008-2010 Medicare Claims Data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7724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71600"/>
            <a:ext cx="73152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447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Beneficiary Summary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 &amp; enrollment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274732" y="1411394"/>
            <a:ext cx="129370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cs typeface="Arial" pitchFamily="34" charset="-120"/>
              </a:rPr>
              <a:t>343923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0" y="1691640"/>
            <a:ext cx="914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675120" y="14630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675120" y="1691640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2011680"/>
            <a:ext cx="77724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011680"/>
            <a:ext cx="73152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08483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Inpatient Claims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2860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admissions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0" y="21031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66514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0" y="2331720"/>
            <a:ext cx="914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675120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675120" y="2331720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" y="2639907"/>
            <a:ext cx="77724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2651760"/>
            <a:ext cx="73152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27249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Outpatient Claims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29260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Ambulatory services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49239" y="2690707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772604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486400" y="2971800"/>
            <a:ext cx="914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675120" y="27432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675120" y="2971800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1520" y="3291840"/>
            <a:ext cx="77724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9" name="Shape 27"/>
          <p:cNvSpPr/>
          <p:nvPr/>
        </p:nvSpPr>
        <p:spPr>
          <a:xfrm>
            <a:off x="731520" y="3291840"/>
            <a:ext cx="73152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" y="33649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Carrier Claims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05840" y="35661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Physician services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81506" y="3348059"/>
            <a:ext cx="123274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cs typeface="Arial" pitchFamily="34" charset="-120"/>
              </a:rPr>
              <a:t>2097150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486400" y="3611880"/>
            <a:ext cx="914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675120" y="33832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675120" y="3611880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31520" y="3931920"/>
            <a:ext cx="77724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31520" y="3931920"/>
            <a:ext cx="73152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8" name="Text 36"/>
          <p:cNvSpPr/>
          <p:nvPr/>
        </p:nvSpPr>
        <p:spPr>
          <a:xfrm>
            <a:off x="1005840" y="40050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Prescription Drug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05840" y="42062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Medication history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279813" y="3977640"/>
            <a:ext cx="132757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028090"/>
                </a:solidFill>
                <a:latin typeface="Arial" pitchFamily="34" charset="0"/>
                <a:cs typeface="Arial" pitchFamily="34" charset="-120"/>
              </a:rPr>
              <a:t>1048575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486400" y="4251960"/>
            <a:ext cx="914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675120" y="40233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6675120" y="4251960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</a:t>
            </a:r>
            <a:endParaRPr lang="en-US" sz="900" dirty="0"/>
          </a:p>
        </p:txBody>
      </p:sp>
      <p:sp>
        <p:nvSpPr>
          <p:cNvPr id="44" name="Text 0">
            <a:extLst>
              <a:ext uri="{FF2B5EF4-FFF2-40B4-BE49-F238E27FC236}">
                <a16:creationId xmlns:a16="http://schemas.microsoft.com/office/drawing/2014/main" id="{2224905B-52AB-4585-8F26-462E3BE17A76}"/>
              </a:ext>
            </a:extLst>
          </p:cNvPr>
          <p:cNvSpPr/>
          <p:nvPr/>
        </p:nvSpPr>
        <p:spPr>
          <a:xfrm>
            <a:off x="3160355" y="4777740"/>
            <a:ext cx="2696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Data are in IPYNB file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&amp; PREPROCESSING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MISSING DATA RULE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199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(&gt;30%)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7280" y="2267712"/>
            <a:ext cx="2926080" cy="320040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246293" y="2295144"/>
            <a:ext cx="138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columns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0" y="229514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7432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(10-30%)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97280" y="2999232"/>
            <a:ext cx="2926080" cy="32004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280159" y="3026664"/>
            <a:ext cx="134789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columns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0" y="302666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4747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(&lt;10%)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97280" y="3730752"/>
            <a:ext cx="2926080" cy="320040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375818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columns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743200" y="375818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118872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CHECKS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12080" y="201168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B981"/>
                </a:solidFill>
              </a:rPr>
              <a:t>✓ 100% completeness on required fields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0B981"/>
                </a:solidFill>
              </a:rPr>
              <a:t>✓ Valid date logic verified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0B981"/>
                </a:solidFill>
              </a:rPr>
              <a:t>✓ Non-negative payment amounts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0B981"/>
                </a:solidFill>
              </a:rPr>
              <a:t>✓ ICD-9 &amp; HCPCS code validation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0B981"/>
                </a:solidFill>
              </a:rPr>
              <a:t>✓ Duplicate removal</a:t>
            </a:r>
            <a:endParaRPr lang="en-US" sz="1300" dirty="0"/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810AF011-2D1B-4422-87E1-8AE8CBDF9663}"/>
              </a:ext>
            </a:extLst>
          </p:cNvPr>
          <p:cNvSpPr/>
          <p:nvPr/>
        </p:nvSpPr>
        <p:spPr>
          <a:xfrm>
            <a:off x="3160355" y="4777740"/>
            <a:ext cx="2696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Data are in IPYNB file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DEFINING INEFFICIENT PATHWAYS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diagnostic pathway is the sequence of healthcare events from first diagnosis to treatment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37744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459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⏱️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TIME-BASED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between first diagnosis and first treatment procedure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88720" y="3657600"/>
            <a:ext cx="1463040" cy="45720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703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THRESHOLD: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&gt;30 days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1463040"/>
            <a:ext cx="237744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16459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🏥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3657600" y="2286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VISIT-BASED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0" y="27432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provider visits before receiving treatment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31920" y="3657600"/>
            <a:ext cx="1463040" cy="45720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931920" y="3703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THRESHOLD: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&gt;5 visits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463040"/>
            <a:ext cx="237744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15773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👨‍⚕️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6400800" y="2286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PROVIDER-BASED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27432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distinct providers involved in diagnostic journey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75120" y="3657600"/>
            <a:ext cx="1463040" cy="45720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3703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THRESHOLD: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&gt;10 providers</a:t>
            </a:r>
            <a:endParaRPr lang="en-US" sz="1000" dirty="0"/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461BB6E3-3CE0-4796-AB00-553D9F2D1D54}"/>
              </a:ext>
            </a:extLst>
          </p:cNvPr>
          <p:cNvSpPr/>
          <p:nvPr/>
        </p:nvSpPr>
        <p:spPr>
          <a:xfrm>
            <a:off x="3160355" y="4777740"/>
            <a:ext cx="2696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Data are in IPYNB file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FINDINGS: HEALTHCARE UTILIZATION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3774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71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1.82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Diagnoses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Claim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0" y="1188720"/>
            <a:ext cx="23774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0" y="1371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1.41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657600" y="1920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Procedures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Claim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188720"/>
            <a:ext cx="23774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371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0.11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6400800" y="1920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Claim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 (days)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65176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DIAGNOSES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4160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4011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03120" y="4160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Hypertension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0" y="3246120"/>
            <a:ext cx="274320" cy="1828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7" name="Text 15"/>
          <p:cNvSpPr/>
          <p:nvPr/>
        </p:nvSpPr>
        <p:spPr>
          <a:xfrm>
            <a:off x="4114800" y="32461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3657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4660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0312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Acute URI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0" y="3703320"/>
            <a:ext cx="274320" cy="1828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0" y="3703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3246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46401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103120" y="3246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Acute Bronchitis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0" y="4160520"/>
            <a:ext cx="274320" cy="1828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0" y="41605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37760" y="265176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PROCEDURES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03520" y="3200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99213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09360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Visit - Est.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321040" y="3246120"/>
            <a:ext cx="274320" cy="1828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32461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03520" y="3657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80053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0936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Metabolic Panel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321040" y="3703320"/>
            <a:ext cx="274320" cy="1828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5" name="Text 33"/>
          <p:cNvSpPr/>
          <p:nvPr/>
        </p:nvSpPr>
        <p:spPr>
          <a:xfrm>
            <a:off x="8321040" y="3703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03520" y="4114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99214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0936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Visit - Complex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321040" y="4160520"/>
            <a:ext cx="274320" cy="1828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9" name="Text 37"/>
          <p:cNvSpPr/>
          <p:nvPr/>
        </p:nvSpPr>
        <p:spPr>
          <a:xfrm>
            <a:off x="8321040" y="41605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40" name="Text 0">
            <a:extLst>
              <a:ext uri="{FF2B5EF4-FFF2-40B4-BE49-F238E27FC236}">
                <a16:creationId xmlns:a16="http://schemas.microsoft.com/office/drawing/2014/main" id="{15B8585F-E2C8-4F9E-8493-9AA54BF664A2}"/>
              </a:ext>
            </a:extLst>
          </p:cNvPr>
          <p:cNvSpPr/>
          <p:nvPr/>
        </p:nvSpPr>
        <p:spPr>
          <a:xfrm>
            <a:off x="3160355" y="4777740"/>
            <a:ext cx="2696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Data are in IPYNB file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FINDINGS: COST ANALYSIS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BREAKDOWN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Medicare Payments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4720" y="1828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$3,300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240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per Claim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0" y="22402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651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per Claim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2651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063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Deductible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3063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474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Coinsurance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3474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886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Out-of-Pocket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3886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37760" y="118872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12064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COVERAGE RATE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0640" y="1828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85.9%</a:t>
            </a:r>
            <a:endParaRPr lang="en-US" sz="5600" dirty="0"/>
          </a:p>
        </p:txBody>
      </p:sp>
      <p:sp>
        <p:nvSpPr>
          <p:cNvPr id="20" name="Shape 18"/>
          <p:cNvSpPr/>
          <p:nvPr/>
        </p:nvSpPr>
        <p:spPr>
          <a:xfrm>
            <a:off x="4937760" y="29260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12064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BY COMPLEXITY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03520" y="3566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diagnosis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0" y="35661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0" y="38862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diagnoses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0" y="38862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03520" y="4206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 diagnoses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0" y="4206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$110</a:t>
            </a:r>
            <a:endParaRPr lang="en-US" sz="1200" dirty="0"/>
          </a:p>
        </p:txBody>
      </p:sp>
      <p:sp>
        <p:nvSpPr>
          <p:cNvPr id="28" name="Text 0">
            <a:extLst>
              <a:ext uri="{FF2B5EF4-FFF2-40B4-BE49-F238E27FC236}">
                <a16:creationId xmlns:a16="http://schemas.microsoft.com/office/drawing/2014/main" id="{4A752A46-5D30-446F-82B0-3EA125B902F4}"/>
              </a:ext>
            </a:extLst>
          </p:cNvPr>
          <p:cNvSpPr/>
          <p:nvPr/>
        </p:nvSpPr>
        <p:spPr>
          <a:xfrm>
            <a:off x="3160355" y="4777740"/>
            <a:ext cx="2696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Data are in IPYNB file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99" y="365760"/>
            <a:ext cx="877485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FINDINGS: TEMPORAL TRENDS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377440" cy="1493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3748"/>
                </a:solidFill>
              </a:rPr>
              <a:t>18</a:t>
            </a:r>
            <a:r>
              <a:rPr lang="en-US" sz="1200" dirty="0">
                <a:solidFill>
                  <a:srgbClr val="718096"/>
                </a:solidFill>
              </a:rPr>
              <a:t> claims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</a:rPr>
              <a:t>$880</a:t>
            </a:r>
            <a:r>
              <a:rPr lang="en-US" sz="1100" dirty="0">
                <a:solidFill>
                  <a:srgbClr val="718096"/>
                </a:solidFill>
              </a:rPr>
              <a:t> total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3622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</a:rPr>
              <a:t>$49</a:t>
            </a:r>
            <a:r>
              <a:rPr lang="en-US" sz="1100" dirty="0">
                <a:solidFill>
                  <a:srgbClr val="718096"/>
                </a:solidFill>
              </a:rPr>
              <a:t> average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74720" y="1188720"/>
            <a:ext cx="23774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2009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74720" y="1828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3748"/>
                </a:solidFill>
              </a:rPr>
              <a:t>18</a:t>
            </a:r>
            <a:r>
              <a:rPr lang="en-US" sz="1200" dirty="0">
                <a:solidFill>
                  <a:srgbClr val="718096"/>
                </a:solidFill>
              </a:rPr>
              <a:t> claims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74720" y="21488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</a:rPr>
              <a:t>$1,720</a:t>
            </a:r>
            <a:r>
              <a:rPr lang="en-US" sz="1100" dirty="0">
                <a:solidFill>
                  <a:srgbClr val="718096"/>
                </a:solidFill>
              </a:rPr>
              <a:t> total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23774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</a:rPr>
              <a:t>$96</a:t>
            </a:r>
            <a:r>
              <a:rPr lang="en-US" sz="1100" dirty="0">
                <a:solidFill>
                  <a:srgbClr val="718096"/>
                </a:solidFill>
              </a:rPr>
              <a:t> average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1188720"/>
            <a:ext cx="23774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17920" y="1828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3748"/>
                </a:solidFill>
              </a:rPr>
              <a:t>8</a:t>
            </a:r>
            <a:r>
              <a:rPr lang="en-US" sz="1200" dirty="0">
                <a:solidFill>
                  <a:srgbClr val="718096"/>
                </a:solidFill>
              </a:rPr>
              <a:t> claims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217920" y="21488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</a:rPr>
              <a:t>$700</a:t>
            </a:r>
            <a:r>
              <a:rPr lang="en-US" sz="1100" dirty="0">
                <a:solidFill>
                  <a:srgbClr val="718096"/>
                </a:solidFill>
              </a:rPr>
              <a:t> total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17920" y="23774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</a:rPr>
              <a:t>$88</a:t>
            </a:r>
            <a:r>
              <a:rPr lang="en-US" sz="1100" dirty="0">
                <a:solidFill>
                  <a:srgbClr val="718096"/>
                </a:solidFill>
              </a:rPr>
              <a:t> average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371600" y="2926080"/>
            <a:ext cx="6400800" cy="1371600"/>
          </a:xfrm>
          <a:prstGeom prst="rect">
            <a:avLst/>
          </a:prstGeom>
          <a:solidFill>
            <a:srgbClr val="F59E0B">
              <a:alpha val="80000"/>
            </a:srgbClr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9" name="Text 17"/>
          <p:cNvSpPr/>
          <p:nvPr/>
        </p:nvSpPr>
        <p:spPr>
          <a:xfrm>
            <a:off x="1371600" y="3108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CRITICAL FINDING</a:t>
            </a:r>
            <a:endParaRPr lang="en-US" sz="1600" b="1" dirty="0"/>
          </a:p>
        </p:txBody>
      </p:sp>
      <p:sp>
        <p:nvSpPr>
          <p:cNvPr id="20" name="Text 18"/>
          <p:cNvSpPr/>
          <p:nvPr/>
        </p:nvSpPr>
        <p:spPr>
          <a:xfrm>
            <a:off x="1371600" y="3429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 increase in average claim cost from 2008 to 2009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38404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Driven by: More complex cases • Higher-acuity mix • Additional diagnostics</a:t>
            </a:r>
            <a:endParaRPr lang="en-US" sz="1200" dirty="0"/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7885E499-5936-42FC-8181-3F4718B9C272}"/>
              </a:ext>
            </a:extLst>
          </p:cNvPr>
          <p:cNvSpPr/>
          <p:nvPr/>
        </p:nvSpPr>
        <p:spPr>
          <a:xfrm>
            <a:off x="3160355" y="4777740"/>
            <a:ext cx="2696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Data are in IPYNB file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7724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325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1280160"/>
            <a:ext cx="118872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2103120" y="1325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03120" y="1280160"/>
            <a:ext cx="118872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325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280160"/>
            <a:ext cx="118872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4663440" y="1325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118872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1325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1280160"/>
            <a:ext cx="118872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223760" y="1325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23760" y="1280160"/>
            <a:ext cx="118872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17373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17373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17373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0" y="17373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0" y="17373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223760" y="17373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21945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03120" y="21945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0" y="21945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63440" y="21945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43600" y="21945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23760" y="21945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2651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103120" y="2651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83280" y="2651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663440" y="2651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943600" y="2651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23760" y="2651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0.93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286000" y="3657600"/>
            <a:ext cx="4572000" cy="731520"/>
          </a:xfrm>
          <a:prstGeom prst="rect">
            <a:avLst/>
          </a:prstGeom>
          <a:solidFill>
            <a:srgbClr val="10B981">
              <a:alpha val="80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BEST MODEL: XGBoost with 93% ROC-AUC</a:t>
            </a:r>
            <a:endParaRPr lang="en-US" sz="1800" dirty="0"/>
          </a:p>
        </p:txBody>
      </p:sp>
      <p:sp>
        <p:nvSpPr>
          <p:cNvPr id="36" name="Text 0">
            <a:extLst>
              <a:ext uri="{FF2B5EF4-FFF2-40B4-BE49-F238E27FC236}">
                <a16:creationId xmlns:a16="http://schemas.microsoft.com/office/drawing/2014/main" id="{B9E88449-3E17-446B-B908-B91FA06A53E4}"/>
              </a:ext>
            </a:extLst>
          </p:cNvPr>
          <p:cNvSpPr/>
          <p:nvPr/>
        </p:nvSpPr>
        <p:spPr>
          <a:xfrm>
            <a:off x="3160355" y="4777740"/>
            <a:ext cx="2696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Data are in IPYNB file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 ANALYSIS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predictors of inefficient diagnostic pathways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4447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Fragmentation Score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444752"/>
            <a:ext cx="1536192" cy="274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6382512" y="14447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9933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Between First Diagnosis and Treatment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993392"/>
            <a:ext cx="1316736" cy="274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163056" y="1993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5146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5420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Distinct Providers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542032"/>
            <a:ext cx="1042416" cy="274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5888736" y="254203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0632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0906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Diagnosis Count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090672"/>
            <a:ext cx="822960" cy="2743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0" y="3090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36118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36393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Out-of-Pocket Costs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3639312"/>
            <a:ext cx="438912" cy="2743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5285232" y="363931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41605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80160" y="4187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Frequency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4187952"/>
            <a:ext cx="329184" cy="2743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5175504" y="4187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200" dirty="0"/>
          </a:p>
        </p:txBody>
      </p:sp>
      <p:sp>
        <p:nvSpPr>
          <p:cNvPr id="28" name="Text 0">
            <a:extLst>
              <a:ext uri="{FF2B5EF4-FFF2-40B4-BE49-F238E27FC236}">
                <a16:creationId xmlns:a16="http://schemas.microsoft.com/office/drawing/2014/main" id="{7B93AAC6-6DA2-417C-8BA0-D43E896B5C30}"/>
              </a:ext>
            </a:extLst>
          </p:cNvPr>
          <p:cNvSpPr/>
          <p:nvPr/>
        </p:nvSpPr>
        <p:spPr>
          <a:xfrm>
            <a:off x="3160355" y="4777740"/>
            <a:ext cx="2696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Data are in IPYNB file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PATIENT-LEVEL INSIGHTS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3774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237744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005840" y="2377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743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30632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per Claim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3383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37033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OOP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88720" y="4023360"/>
            <a:ext cx="1463040" cy="274320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404164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Risk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0" y="1188720"/>
            <a:ext cx="23774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0" y="1188720"/>
            <a:ext cx="237744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13258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4904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3749040" y="2377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49040" y="2743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749040" y="30632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per Claim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49040" y="3383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749040" y="37033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OOP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931920" y="4023360"/>
            <a:ext cx="1463040" cy="274320"/>
          </a:xfrm>
          <a:prstGeom prst="rect">
            <a:avLst/>
          </a:prstGeom>
          <a:solidFill>
            <a:srgbClr val="F59E0B">
              <a:alpha val="7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931920" y="404164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Risk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1188720"/>
            <a:ext cx="23774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1188720"/>
            <a:ext cx="237744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13258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9224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4800" dirty="0"/>
          </a:p>
        </p:txBody>
      </p:sp>
      <p:sp>
        <p:nvSpPr>
          <p:cNvPr id="29" name="Text 27"/>
          <p:cNvSpPr/>
          <p:nvPr/>
        </p:nvSpPr>
        <p:spPr>
          <a:xfrm>
            <a:off x="6492240" y="2377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92240" y="2743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492240" y="30632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per Claim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92240" y="3383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492240" y="37033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OOP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675120" y="4023360"/>
            <a:ext cx="1463040" cy="274320"/>
          </a:xfrm>
          <a:prstGeom prst="rect">
            <a:avLst/>
          </a:prstGeom>
          <a:solidFill>
            <a:srgbClr val="EF4444">
              <a:alpha val="7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675120" y="404164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</a:t>
            </a:r>
            <a:endParaRPr lang="en-US" sz="1200" dirty="0"/>
          </a:p>
        </p:txBody>
      </p:sp>
      <p:sp>
        <p:nvSpPr>
          <p:cNvPr id="36" name="Text 0">
            <a:extLst>
              <a:ext uri="{FF2B5EF4-FFF2-40B4-BE49-F238E27FC236}">
                <a16:creationId xmlns:a16="http://schemas.microsoft.com/office/drawing/2014/main" id="{A3703387-B4F3-425E-99EE-F1438F7F7526}"/>
              </a:ext>
            </a:extLst>
          </p:cNvPr>
          <p:cNvSpPr/>
          <p:nvPr/>
        </p:nvSpPr>
        <p:spPr>
          <a:xfrm>
            <a:off x="3160355" y="4777740"/>
            <a:ext cx="2696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Data are in IPYNB file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INEFFICIENCY PATTERNS DETECTED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3774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71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🔴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Fragmentation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468880"/>
            <a:ext cx="201168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651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</a:rPr>
              <a:t>Finding:
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42 providers for 3 patients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</a:rPr>
              <a:t>Impact:
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Lack of care coordination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05840" y="3840480"/>
            <a:ext cx="1828800" cy="457200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931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Implement care management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1188720"/>
            <a:ext cx="23774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0" y="1371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⏰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3657600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Delays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0" y="2468880"/>
            <a:ext cx="201168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3749040" y="2651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</a:rPr>
              <a:t>Finding:
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96% cost increase in 2009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4904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</a:rPr>
              <a:t>Impact:
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Treatment postponement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49040" y="3840480"/>
            <a:ext cx="1828800" cy="457200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794760" y="3931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Expedite diagnostic protocols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1188720"/>
            <a:ext cx="23774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0" y="1371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📊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6400800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Utilizers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0" y="2468880"/>
            <a:ext cx="201168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2651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</a:rPr>
              <a:t>Finding:
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Patient 3: 20 claims in 2.5 years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</a:rPr>
              <a:t>Impact:
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Potential overutilization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92240" y="3840480"/>
            <a:ext cx="1828800" cy="457200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3931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Case management intervention</a:t>
            </a:r>
            <a:endParaRPr lang="en-US" sz="1000" dirty="0"/>
          </a:p>
        </p:txBody>
      </p:sp>
      <p:sp>
        <p:nvSpPr>
          <p:cNvPr id="27" name="Text 0">
            <a:extLst>
              <a:ext uri="{FF2B5EF4-FFF2-40B4-BE49-F238E27FC236}">
                <a16:creationId xmlns:a16="http://schemas.microsoft.com/office/drawing/2014/main" id="{8047DBCF-5DA8-4FA7-89FA-34CE2E2422C0}"/>
              </a:ext>
            </a:extLst>
          </p:cNvPr>
          <p:cNvSpPr/>
          <p:nvPr/>
        </p:nvSpPr>
        <p:spPr>
          <a:xfrm>
            <a:off x="3160355" y="4777740"/>
            <a:ext cx="2696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Data are in IPYNB file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VISUALIZATIONS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analysis across 18 dimensions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4688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71600"/>
            <a:ext cx="73152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00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Distribution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965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Histogram &amp; boxplot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371600"/>
            <a:ext cx="24688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371600"/>
            <a:ext cx="73152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1600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Trends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49040" y="1965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over time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24688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371600"/>
            <a:ext cx="73152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600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Components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965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vs OOP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2926080"/>
            <a:ext cx="24688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2926080"/>
            <a:ext cx="73152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154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Codes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520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Diagnoses &amp; procedures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0" y="2926080"/>
            <a:ext cx="24688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0" y="2926080"/>
            <a:ext cx="73152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3749040" y="3154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Analysis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49040" y="3520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Utilization patterns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2926080"/>
            <a:ext cx="24688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2926080"/>
            <a:ext cx="73152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3154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Matrix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92240" y="3520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relationships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Complete dashboard with 18 detailed visualizations available</a:t>
            </a:r>
            <a:endParaRPr lang="en-US" sz="1300" dirty="0"/>
          </a:p>
        </p:txBody>
      </p:sp>
      <p:sp>
        <p:nvSpPr>
          <p:cNvPr id="29" name="Text 0">
            <a:extLst>
              <a:ext uri="{FF2B5EF4-FFF2-40B4-BE49-F238E27FC236}">
                <a16:creationId xmlns:a16="http://schemas.microsoft.com/office/drawing/2014/main" id="{CFDC5964-0572-492C-8C74-945DC3CC17AA}"/>
              </a:ext>
            </a:extLst>
          </p:cNvPr>
          <p:cNvSpPr/>
          <p:nvPr/>
        </p:nvSpPr>
        <p:spPr>
          <a:xfrm>
            <a:off x="3160355" y="4777740"/>
            <a:ext cx="2696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Data are in IPYNB file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3657600" cy="4114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618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COST CONTAINMENT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7373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Investigate 2009 cost spike drivers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 high-utilizer monitoring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Focus on high-cost diagnosis management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188720"/>
            <a:ext cx="3657600" cy="4114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2618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QUALITY IMPROVEMENT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0640" y="17373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 provider fragmentation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0" y="20116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Enhance care coordination programs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20640" y="22860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Strengthen preventive care services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83464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2834640"/>
            <a:ext cx="3657600" cy="4114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9077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DATA &amp; ANALYTICS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3832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Expand to full dataset analysis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36576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Build predictive risk models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9319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Establish ongoing monitoring dashboards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83464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2834640"/>
            <a:ext cx="3657600" cy="4114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9077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FRAUD PREVENTION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20640" y="33832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anomaly detection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20640" y="36576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Provider pattern monitoring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20640" y="39319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Periodic claim audits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&amp; FUTURE WORK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97280"/>
            <a:ext cx="393192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LIMITATIONS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73736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Small sample size (44 claims, 3 patients)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Synthetic data (DE-SynPUF)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Partial 2010 data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Limited to carrier claims dataset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30% missing data threshold removed variables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clinical outcome measures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3776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0" y="1097280"/>
            <a:ext cx="393192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2344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FUTURE WORK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12080" y="173736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Analyze full population (all samples)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Integrate inpatient &amp; outpatient data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Include prescription drug patterns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Link to quality outcome measures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Deploy real-time monitoring dashboard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Validate on real-world claims data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743200" y="2468880"/>
            <a:ext cx="36576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Detecting Inefficient Diagnostic Pathways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0" y="3383280"/>
            <a:ext cx="5486400" cy="10972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103120" y="356616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/>
              <a:t>Key Takeaway:
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dirty="0"/>
              <a:t>Early detection of inefficient pathways can reduce costs by 40%,
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dirty="0"/>
              <a:t>improve patient outcomes, and optimize care coordination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1001</Words>
  <Application>Microsoft Office PowerPoint</Application>
  <PresentationFormat>On-screen Show (16:9)</PresentationFormat>
  <Paragraphs>350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Detecting Inefficient Diagnostic Pathways in Medicare Claims</dc:title>
  <dc:subject>PptxGenJS Presentation</dc:subject>
  <dc:creator>Healthcare Analytics Team</dc:creator>
  <cp:lastModifiedBy>GIM</cp:lastModifiedBy>
  <cp:revision>18</cp:revision>
  <dcterms:created xsi:type="dcterms:W3CDTF">2026-02-13T09:12:08Z</dcterms:created>
  <dcterms:modified xsi:type="dcterms:W3CDTF">2026-02-13T10:11:19Z</dcterms:modified>
</cp:coreProperties>
</file>